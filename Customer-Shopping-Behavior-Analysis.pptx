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Source Serif 4 SemiBold"/>
      <p:regular r:id="rId17"/>
    </p:embeddedFont>
    <p:embeddedFont>
      <p:font typeface="Source Serif 4 Bold"/>
      <p:regular r:id="rId18"/>
    </p:embeddedFont>
    <p:embeddedFont>
      <p:font typeface="Source Sans 3"/>
      <p:regular r:id="rId19"/>
    </p:embeddedFont>
    <p:embeddedFont>
      <p:font typeface="Source Sans 3 Bold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0D4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9786" y="112142"/>
            <a:ext cx="3279428" cy="49191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1780133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577" y="2884512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Uncovering spending patterns, customer segments, and product preferences from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guide strategic business decisions.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08720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522735"/>
            <a:ext cx="3954884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3,900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1620962" y="220340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65464" y="1522735"/>
            <a:ext cx="3954959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18</a:t>
            </a:r>
            <a:endParaRPr lang="en-US" sz="3850" dirty="0"/>
          </a:p>
        </p:txBody>
      </p:sp>
      <p:sp>
        <p:nvSpPr>
          <p:cNvPr id="6" name="Text 4"/>
          <p:cNvSpPr/>
          <p:nvPr/>
        </p:nvSpPr>
        <p:spPr>
          <a:xfrm>
            <a:off x="5762848" y="220340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Columns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23577" y="2797373"/>
            <a:ext cx="3954884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37</a:t>
            </a:r>
            <a:endParaRPr lang="en-US" sz="3850" dirty="0"/>
          </a:p>
        </p:txBody>
      </p:sp>
      <p:sp>
        <p:nvSpPr>
          <p:cNvPr id="8" name="Text 6"/>
          <p:cNvSpPr/>
          <p:nvPr/>
        </p:nvSpPr>
        <p:spPr>
          <a:xfrm>
            <a:off x="1620962" y="347803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23577" y="3787750"/>
            <a:ext cx="395488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Review Rating only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65464" y="2797373"/>
            <a:ext cx="3954959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$59.76</a:t>
            </a:r>
            <a:endParaRPr lang="en-US" sz="3850" dirty="0"/>
          </a:p>
        </p:txBody>
      </p:sp>
      <p:sp>
        <p:nvSpPr>
          <p:cNvPr id="11" name="Text 9"/>
          <p:cNvSpPr/>
          <p:nvPr/>
        </p:nvSpPr>
        <p:spPr>
          <a:xfrm>
            <a:off x="5762848" y="347803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Avg Purchase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23577" y="4195390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Features span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demographics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purchase details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and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shopping behavior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0D4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9786" y="112142"/>
            <a:ext cx="3279428" cy="49191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521047"/>
            <a:ext cx="4773513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Python: Data Preparation</a:t>
            </a:r>
            <a:endParaRPr lang="en-US" sz="2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27" y="1185416"/>
            <a:ext cx="4686895" cy="11257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9350" y="1354038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Clean &amp; Standardize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749350" y="1663750"/>
            <a:ext cx="427345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Imputed missing Review Ratings by category median; renamed columns to snake_case.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527" y="2460724"/>
            <a:ext cx="4686895" cy="112573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9350" y="2629346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749350" y="2939058"/>
            <a:ext cx="427345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Created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age_group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bins and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purchase_frequency_days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; dropped redundant promo_code_used.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4527" y="3736032"/>
            <a:ext cx="4686895" cy="88634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9350" y="3904655"/>
            <a:ext cx="177819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Database Integration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749350" y="4214366"/>
            <a:ext cx="427345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Loaded cleaned DataFrame into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PostgreSQL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SQL analysis.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12540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493862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9226" y="1863403"/>
            <a:ext cx="38659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more than double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 revenue of female customers.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759226" y="2510433"/>
            <a:ext cx="3865959" cy="635719"/>
          </a:xfrm>
          <a:prstGeom prst="roundRect">
            <a:avLst>
              <a:gd name="adj" fmla="val 9884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798" y="2728392"/>
            <a:ext cx="187003" cy="1495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5373" y="2697361"/>
            <a:ext cx="368744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Male: $157,890 · Female: $75,191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594739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12540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493862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Revenue Gap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9226" y="1863403"/>
            <a:ext cx="38659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Non-subscribers drive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73% of total revenue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despite similar average spend (~$59).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759226" y="2510433"/>
            <a:ext cx="1858194" cy="917600"/>
          </a:xfrm>
          <a:prstGeom prst="roundRect">
            <a:avLst>
              <a:gd name="adj" fmla="val 6848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13561" y="2664768"/>
            <a:ext cx="15495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27%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13561" y="3034308"/>
            <a:ext cx="154952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Subscribers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766992" y="2510433"/>
            <a:ext cx="1858194" cy="917600"/>
          </a:xfrm>
          <a:prstGeom prst="roundRect">
            <a:avLst>
              <a:gd name="adj" fmla="val 6848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21326" y="2664768"/>
            <a:ext cx="15495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73%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921326" y="3034308"/>
            <a:ext cx="154952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Non-Subscribers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724" y="391641"/>
            <a:ext cx="4226644" cy="40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Customer Segmentation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724" y="1131019"/>
            <a:ext cx="3921026" cy="28223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5013" y="1115095"/>
            <a:ext cx="20797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Segment Breakdown</a:t>
            </a:r>
            <a:endParaRPr lang="en-US" sz="12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5963" y="1460971"/>
            <a:ext cx="3940076" cy="8557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59102" y="1617911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Loyal — 3,116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959102" y="1947863"/>
            <a:ext cx="3549997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80% of base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5963" y="2443832"/>
            <a:ext cx="3940076" cy="8557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59102" y="2600771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Returning — 701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4959102" y="2930723"/>
            <a:ext cx="3549997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18% of base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25963" y="3426693"/>
            <a:ext cx="3940076" cy="85576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59102" y="3583632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New — 83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4959102" y="3913584"/>
            <a:ext cx="3549997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2% of base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4745013" y="4425479"/>
            <a:ext cx="4378226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 958 repeat buyers (&gt;5 purchases), only </a:t>
            </a:r>
            <a:pPr algn="l" indent="0" marL="0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27% subscribe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96578"/>
            <a:ext cx="490589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Top Products &amp; Categories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410519"/>
            <a:ext cx="242656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Top 5 by Review Rating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23577" y="1798737"/>
            <a:ext cx="3865959" cy="2579936"/>
          </a:xfrm>
          <a:prstGeom prst="roundRect">
            <a:avLst>
              <a:gd name="adj" fmla="val 243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8340" y="1803499"/>
            <a:ext cx="3856434" cy="4284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77987" y="1898005"/>
            <a:ext cx="246950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Item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994199" y="1898005"/>
            <a:ext cx="169820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Rating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8340" y="2231901"/>
            <a:ext cx="3856434" cy="4284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77987" y="2326407"/>
            <a:ext cx="246950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Gloves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94199" y="2326407"/>
            <a:ext cx="169820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3.86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8340" y="2660303"/>
            <a:ext cx="3856434" cy="4284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77987" y="2754809"/>
            <a:ext cx="246950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Sandals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94199" y="2754809"/>
            <a:ext cx="169820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3.84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8340" y="3088704"/>
            <a:ext cx="3856434" cy="4284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77987" y="3183210"/>
            <a:ext cx="246950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94199" y="3183210"/>
            <a:ext cx="169820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3.82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28340" y="3517106"/>
            <a:ext cx="3856434" cy="4284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77987" y="3611612"/>
            <a:ext cx="246950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994199" y="3611612"/>
            <a:ext cx="169820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3.80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28340" y="3945508"/>
            <a:ext cx="3856434" cy="4284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77987" y="4040014"/>
            <a:ext cx="246950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Skirt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994199" y="4040014"/>
            <a:ext cx="169820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3.78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9226" y="1410519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Top 3 per Category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759226" y="1798737"/>
            <a:ext cx="3865959" cy="2151534"/>
          </a:xfrm>
          <a:prstGeom prst="roundRect">
            <a:avLst>
              <a:gd name="adj" fmla="val 292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3988" y="1803499"/>
            <a:ext cx="3856434" cy="4284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913635" y="1898005"/>
            <a:ext cx="169820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Category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58545" y="1898005"/>
            <a:ext cx="246950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Top Items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63988" y="2231901"/>
            <a:ext cx="3856434" cy="4284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913635" y="2326407"/>
            <a:ext cx="169820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Accessories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58545" y="2326407"/>
            <a:ext cx="246950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Jewelry, Sunglasses, Belt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63988" y="2660303"/>
            <a:ext cx="3856434" cy="4284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913635" y="2754809"/>
            <a:ext cx="169820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Clothing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58545" y="2754809"/>
            <a:ext cx="246950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Blouse, Pants, Shirt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63988" y="3088704"/>
            <a:ext cx="3856434" cy="4284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913635" y="3183210"/>
            <a:ext cx="169820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Footwear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58545" y="3183210"/>
            <a:ext cx="246950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Sandals, Shoes, Sneakers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763988" y="3517106"/>
            <a:ext cx="3856434" cy="4284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913635" y="3611612"/>
            <a:ext cx="169820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Outerwear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458545" y="3611612"/>
            <a:ext cx="246950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Jacket, Coat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95151"/>
            <a:ext cx="5381402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Discount &amp; Shipping Insights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309092"/>
            <a:ext cx="345430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Most Discount-Dependent Products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697310"/>
            <a:ext cx="3865959" cy="27827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59226" y="1309092"/>
            <a:ext cx="278777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Shipping Type — Avg Spend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759226" y="1697310"/>
            <a:ext cx="1858194" cy="917600"/>
          </a:xfrm>
          <a:prstGeom prst="roundRect">
            <a:avLst>
              <a:gd name="adj" fmla="val 6848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13561" y="1851645"/>
            <a:ext cx="15495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Express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13561" y="2221185"/>
            <a:ext cx="154952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$60.48 avg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766992" y="1697310"/>
            <a:ext cx="1858194" cy="917600"/>
          </a:xfrm>
          <a:prstGeom prst="roundRect">
            <a:avLst>
              <a:gd name="adj" fmla="val 6848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21326" y="1851645"/>
            <a:ext cx="15495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Standard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921326" y="2221185"/>
            <a:ext cx="154952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$58.46 avg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759226" y="2783160"/>
            <a:ext cx="43231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839 customers used discounts yet spent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above average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4290268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12540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493862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Age Group Insights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9226" y="1863403"/>
            <a:ext cx="38659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Young Adults lead in revenue, but all groups are relatively close —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broad targeting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is viable.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759226" y="2510433"/>
            <a:ext cx="3865959" cy="635719"/>
          </a:xfrm>
          <a:prstGeom prst="roundRect">
            <a:avLst>
              <a:gd name="adj" fmla="val 9884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798" y="2728392"/>
            <a:ext cx="187003" cy="1495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5373" y="2697361"/>
            <a:ext cx="368744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Average customer age: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44 years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(range 18–70)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0D4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4606" y="89371"/>
            <a:ext cx="3309789" cy="49646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7240" y="343421"/>
            <a:ext cx="4880521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Power BI Dashboard &amp; Recommendations</a:t>
            </a:r>
            <a:endParaRPr lang="en-US" sz="2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240" y="1187202"/>
            <a:ext cx="238423" cy="2384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7240" y="1544315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Boost Subscriptions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17240" y="1776636"/>
            <a:ext cx="4880521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Promote exclusive subscriber benefits.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7240" y="2137916"/>
            <a:ext cx="238423" cy="23842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7240" y="2495029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Loyalty Programs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417240" y="2727350"/>
            <a:ext cx="4880521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Reward repeat buyers to grow the Loyal segment.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7240" y="3088630"/>
            <a:ext cx="238423" cy="23842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17240" y="3445743"/>
            <a:ext cx="1583978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Review Discount Policy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417240" y="3678064"/>
            <a:ext cx="4880521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Balance sales boosts with margin control.</a:t>
            </a:r>
            <a:endParaRPr lang="en-US" sz="9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7240" y="4039344"/>
            <a:ext cx="238423" cy="23842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17240" y="4396457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Targeted Marketing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417240" y="4628778"/>
            <a:ext cx="4880521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 on high-revenue age groups and express-shipping users.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2026-05-29T05:10:29Z</dcterms:created>
  <dcterms:modified xsi:type="dcterms:W3CDTF">2026-05-29T05:10:29Z</dcterms:modified>
</cp:coreProperties>
</file>